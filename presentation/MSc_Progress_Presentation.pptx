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Note this is a progress meeting, not a defence. You've completed all experimental work; today is about reviewing findings and confirming readiness to move into Part B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 this is a progress meeting, not a defence. You've done the work; you're asking for guidance on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scoring framework. Everything that follows shows whether we met these 5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aim clearly, then walk through the 5 objectives. Note that Objective 3 was reformulated due to data reality (we'll come to that).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objective met by construction. Emphasise evidence typing — this is what makes R-GCN appropriate for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briefly. The interesting story is what came out of training, not the architecture itself. Mention that GPU-CPU decision was forced by ilifu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Multi-seed discipline is a rigor point. Some published papers report single-seed. We don't. Every claim here has 3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transition slide. First two objectives are complete; results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multi-seed rigor. Note that single-seed had suggested ambig_as_pos was better, but multi-seed revealed it wasn't.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null result on methodological ablations. The pattern of D1+D2 is that method choice doesn't move the needle.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direct. The reformulation was forced by data reality. Ask supervisor explicitly how to frame this in Part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slide. The filtered-vs-raw effect is small. Move quickly to D4.3.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hero slide. THE finding. Chemical structure availability is the primary driver. Method-level ablations cannot beat this constraint. This is what I'll build the Part B discussion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Initially I thought this was a strong positive finding. Then I ran a null enrichment check — set that up. The next slide is the honest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direct. I ran the check anyway because I'd rather find this myself than have an examiner find it. The 43 model-only pathways ARE the honest positive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17.5% is a defensible rate for novel predictions. Note the honest caveat about broad chemicals — this is important for scientific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Intrinsic interpretability shows the model implements evidence-graded reasoning. This satisfies Requirement 5c-a from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closes Requirement 5c. Coupled interpretability with pathway contextualisation, done. Reference the testosterone → ABCB1 exemplar.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all 5 objectives. Objective 3 needs careful framing in Part B — we discussed this on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through these findings as a coherent story. The narrative arc: null on method-level, positive on feature-level (SMILES), honest on pathway (mostly structural), modest positive on literature, defensible integrated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characterisation contribution. Not glamorous but scientifically honest. State this clearly — supervisors respect honest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about limitations. Don't over-defend — acknowledge and move on. Note that most are scope decisions, not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 section shows I understand what a stronger paper would look like, but scope was appropriately bounded for an MSc.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specific about what you need. These four are the actionable items for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timeline. We're ahead of schedule. That buffer becomes writing time. This is your closing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789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Interpretable Graph Neural Networks for Learning
Drug-Gene Relationships and Inferring Phenotype
Outcomes in Pharmacogenomics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2120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Arial"/>
              </a:rPr>
              <a:t>Kgabe Ronald Molepo (MLPKGA007)</a:t>
            </a:r>
          </a:p>
          <a:p>
            <a:r>
              <a:rPr sz="1600">
                <a:solidFill>
                  <a:srgbClr val="666666"/>
                </a:solidFill>
                <a:latin typeface="Arial"/>
              </a:rPr>
              <a:t>MSc Computational Health Informatics</a:t>
            </a:r>
          </a:p>
          <a:p>
            <a:r>
              <a:rPr sz="1400">
                <a:solidFill>
                  <a:srgbClr val="666666"/>
                </a:solidFill>
                <a:latin typeface="Arial"/>
              </a:rPr>
              <a:t>Supervisors: Hocine Bendou, Khuthala Mnika  |  University of Cape Town  |  24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Where we are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Arial"/>
              </a:rPr>
              <a:t>✓  Part A submitted (November 2025)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Arial"/>
              </a:rPr>
              <a:t>✓  All experimental deliverables complete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Arial"/>
              </a:rPr>
              <a:t>📝  Part B writing phase beginning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Arial"/>
              </a:rPr>
              <a:t>🎯  Today: report findings + confirm readiness to 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0072B2"/>
                </a:solidFill>
                <a:latin typeface="Arial"/>
              </a:rPr>
              <a:t>Target: December 2026 submission  |  Currently 5-6 weeks ahead of Part A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Recap: Part A identified a specific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Five requirements that no prior pipeline had combined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1.  Evidence-graded curated supervision (ClinPGx association tiers)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2.  Ranking objective + hub-degree penalty + degree-aware sampling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3.  Biologically-mediated drug-gene-phenotype propagation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4.  Cold-drug evaluation with raw + filtered MRR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5.  Coupled intrinsic + post-hoc interpretability + pathway contextualisation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Arial"/>
              </a:rPr>
              <a:t>"The contribution lies in combining all five within a single, reproducible pipeline applied to ClinPGx."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Overall aim + 5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Arial"/>
              </a:rPr>
              <a:t>Aim: </a:t>
            </a:r>
            <a:r>
              <a:rPr sz="1600">
                <a:solidFill>
                  <a:srgbClr val="333333"/>
                </a:solidFill>
                <a:latin typeface="Arial"/>
              </a:rPr>
              <a:t>Evaluate whether R-GCN can rank drug-gene relationships for previously-unseen drugs on ClinPGx, and characterise what drives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1.  Construct heterogeneous knowledge graph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2.  Train evidence-aware R-GCN ranking model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3.  Explore phenotype-contextualised propagation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4.  Interpret ranked PGx relationships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5.  Validate with biological pathways +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Knowledge graph construction (Objective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ClinPGx heterogeneous KG — evidence categories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38,955 nodes across 4 types: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Drugs:  5,210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Genes:  25,041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Variants:  7,091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Phenotypes:  1,613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44,218 edges across 56 relations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Drug-gene edges:  ~6,704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Evidence types:  clinical / label / pathway / guideline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Association types:  associated / not-associated / ambiguous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◆  Drugs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D55E00"/>
                </a:solidFill>
                <a:latin typeface="Arial"/>
              </a:rPr>
              <a:t>◆  Genes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9E73"/>
                </a:solidFill>
                <a:latin typeface="Arial"/>
              </a:rPr>
              <a:t>◆  Variants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E69F00"/>
                </a:solidFill>
                <a:latin typeface="Arial"/>
              </a:rPr>
              <a:t>◆  Phenotypes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R-GCN architecture + training (Objective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Evidence-aware relational GNN with pairwise ranking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Model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2-layer R-GCN encoder with basis decomposition (8 bases)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64-dimensional embeddings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DistMult decoder for scoring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Drug fingerprints (Morgan, 2048-dim) as input features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/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Training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Pairwise margin ranking loss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Hub penalty (β = 0.10 default)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Degree-aware negative sampling (deg^0.75)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Evidence-graded supervision: only "associated" as positives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/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Compute</a:t>
            </a:r>
          </a:p>
          <a:p>
            <a:pPr lvl="1"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 ilifu HPC | SLURM | Singularity | CPU (P100 GPU too old for PyTorch 2.10+cu128)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Cold-drug ranking with multi-seed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751 test drugs completely held out during training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Message passing on training subgraph only (no leakage)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Metrics: MRR + Hits@K, both raw AND filtered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12 configurations tested: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    • 3 supervision regimes × 3 seeds (42, 123, 2026) = 9 configs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    • 3 seeds at β = 0 (hub penalty ablation) = 3 configs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Every claim backed by multi-seed variance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    • Single-seed findings would be unreliable at this data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Objectives 1-2: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09E73"/>
                </a:solidFill>
                <a:latin typeface="Arial"/>
              </a:rPr>
              <a:t>✓  Objective 1 — KG construction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38,955 nodes, 44,218 edges, 56 relations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Split leakage audit: passed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009E73"/>
                </a:solidFill>
                <a:latin typeface="Arial"/>
              </a:rPr>
              <a:t>✓  Objective 2 — R-GCN training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12 configurations trained to convergence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All checkpoints preserved, evaluation metrics logged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Multi-seed variance computed for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D1 — Supervision regime shows no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Three regimes × 3 seeds — differences within noise</a:t>
            </a:r>
          </a:p>
        </p:txBody>
      </p:sp>
      <p:pic>
        <p:nvPicPr>
          <p:cNvPr id="5" name="Picture 4" descr="plot_1_d1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53266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2B2"/>
                </a:solidFill>
                <a:latin typeface="Arial"/>
              </a:rPr>
              <a:t>Interpretation:  </a:t>
            </a:r>
            <a:r>
              <a:rPr sz="1400">
                <a:solidFill>
                  <a:srgbClr val="333333"/>
                </a:solidFill>
                <a:latin typeface="Arial"/>
              </a:rPr>
              <a:t>Regime choice doesn't matter. Null result but important — Part A's default regime is defensible.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D2 — Hub penalty has no measurable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β = 0.10 vs β = 0 — identical within variance</a:t>
            </a:r>
          </a:p>
        </p:txBody>
      </p:sp>
      <p:pic>
        <p:nvPicPr>
          <p:cNvPr id="5" name="Picture 4" descr="plot_2_d2_hub_pena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53266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2B2"/>
                </a:solidFill>
                <a:latin typeface="Arial"/>
              </a:rPr>
              <a:t>Interpretation:  </a:t>
            </a:r>
            <a:r>
              <a:rPr sz="1400">
                <a:solidFill>
                  <a:srgbClr val="333333"/>
                </a:solidFill>
                <a:latin typeface="Arial"/>
              </a:rPr>
              <a:t>Degree-aware negative sampling already handles hub bias. The hub penalty term is redundant.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D3 — Phenotype-contextualised propagation, reformulated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Objective 3 required reformulation due to data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Part A commitment (Objective 3):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Predict drug → phenotype via biological reasoning through gene → variant intermediaries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Data reality: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ClinPGx has 0 direct drug-phenotype edges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Cannot evaluate direct drug-phenotype ranking (no ground truth)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Reformulation: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Test whether model prioritises phenotype-relevant genes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Genes with ≥1 gene-phenotype edge in ClinPGx (n=1,131)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Result: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Model filtered MRR ~0.10 on subset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Matches gene-phenotype degree baseline (0.10)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Consistent with D1/D2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55E00"/>
                </a:solidFill>
                <a:latin typeface="Arial"/>
              </a:rPr>
              <a:t>Discussion point:  </a:t>
            </a:r>
            <a:r>
              <a:rPr sz="1400">
                <a:solidFill>
                  <a:srgbClr val="333333"/>
                </a:solidFill>
                <a:latin typeface="Arial"/>
              </a:rPr>
              <a:t>Is this reformulation acceptable for the dissertation, or should we frame Objective 3 differently?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D4.1 — Filtered lifts MRR modestly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Comparing raw vs filtered ranking protocol across 12 configurations: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Filtered MRR consistently ~0.012 higher than raw MRR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Small, consistent effect from removing known positives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This sets up D4.3 — the substantive finding is coming.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D4 — Chemical structure availability dominates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The substantive positive finding</a:t>
            </a:r>
          </a:p>
        </p:txBody>
      </p:sp>
      <p:pic>
        <p:nvPicPr>
          <p:cNvPr id="5" name="Picture 4" descr="plot_3_smiles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1884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55E00"/>
                </a:solidFill>
                <a:latin typeface="Arial"/>
              </a:rPr>
              <a:t>Finding:  </a:t>
            </a:r>
            <a:r>
              <a:rPr sz="1400">
                <a:solidFill>
                  <a:srgbClr val="333333"/>
                </a:solidFill>
                <a:latin typeface="Arial"/>
              </a:rPr>
              <a:t>SMILES effect = +0.065 MRR, which is 5.5× larger than the raw-vs-filtered protocol effect and larger than any methodological ablation (D1, D2, D3) we 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D5-Part 2 — Pathway enrichment across 12 configs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3,689 gene sets tested with BH-FDR correction</a:t>
            </a:r>
          </a:p>
        </p:txBody>
      </p:sp>
      <p:pic>
        <p:nvPicPr>
          <p:cNvPr id="5" name="Picture 4" descr="plot_4_pathwa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54480"/>
            <a:ext cx="8503920" cy="57638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2B2"/>
                </a:solidFill>
                <a:latin typeface="Arial"/>
              </a:rPr>
              <a:t>Initial finding:  </a:t>
            </a:r>
            <a:r>
              <a:rPr sz="1400">
                <a:solidFill>
                  <a:srgbClr val="333333"/>
                </a:solidFill>
                <a:latin typeface="Arial"/>
              </a:rPr>
              <a:t>10 PGx drug pathways FDR-significant across ALL 12 configurations (Paroxetine, Etoposide, Taxane...)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But — is this specific to the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Null enrichment check with drug-gene degree baseline</a:t>
            </a:r>
          </a:p>
        </p:txBody>
      </p:sp>
      <p:pic>
        <p:nvPicPr>
          <p:cNvPr id="5" name="Picture 4" descr="plot_5_null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5618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55E00"/>
                </a:solidFill>
                <a:latin typeface="Arial"/>
              </a:rPr>
              <a:t>Honest reveal:  </a:t>
            </a:r>
            <a:r>
              <a:rPr sz="1300">
                <a:solidFill>
                  <a:srgbClr val="333333"/>
                </a:solidFill>
                <a:latin typeface="Arial"/>
              </a:rPr>
              <a:t>Degree baseline also finds the 10 headline pathways. D5-Part 2 headline is largely structural. But 43 model-only pathways represent genuine mechanism-specific contribution.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D5-Part 1 — External literature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PubMed evidence for top novel predictions, 1990-2026</a:t>
            </a:r>
          </a:p>
        </p:txBody>
      </p:sp>
      <p:pic>
        <p:nvPicPr>
          <p:cNvPr id="5" name="Picture 4" descr="plot_6_lit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5943600" cy="3906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7373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072B2"/>
                </a:solidFill>
                <a:latin typeface="Arial"/>
              </a:rPr>
              <a:t>4,636 predictions queried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072B2"/>
                </a:solidFill>
                <a:latin typeface="Arial"/>
              </a:rPr>
              <a:t>190 unique test drugs (25% of test set)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072B2"/>
                </a:solidFill>
                <a:latin typeface="Arial"/>
              </a:rPr>
              <a:t>17.5% support rate (811 pairs)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072B2"/>
                </a:solidFill>
                <a:latin typeface="Arial"/>
              </a:rPr>
              <a:t>3,505 total articles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072B2"/>
                </a:solidFill>
                <a:latin typeface="Arial"/>
              </a:rPr>
              <a:t>Biologically-supported pairs: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carbidopa → COMT (Parkinson's)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dimethyl fumarate → FOXP3 (MS)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doxorubicinol → ABCB1 (chemo resistance)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072B2"/>
                </a:solidFill>
                <a:latin typeface="Arial"/>
              </a:rPr>
              <a:t>Caveat: some pairs are broad chemicals (Ca, testosterone) — inflated by name-match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D5 Session 1a — Model respects evidence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Intrinsic interpretability: relation weights by Frobenius norm</a:t>
            </a:r>
          </a:p>
        </p:txBody>
      </p:sp>
      <p:pic>
        <p:nvPicPr>
          <p:cNvPr id="5" name="Picture 4" descr="plot_8_rel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45951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72B2"/>
                </a:solidFill>
                <a:latin typeface="Arial"/>
              </a:rPr>
              <a:t>Finding:  </a:t>
            </a:r>
            <a:r>
              <a:rPr sz="1300">
                <a:solidFill>
                  <a:srgbClr val="333333"/>
                </a:solidFill>
                <a:latin typeface="Arial"/>
              </a:rPr>
              <a:t>Clinical evidence relations get the highest weight (8.46). Model learned what the evidence-graded supervision intended. Satisfies Requirement 5c intrinsic component.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D5 Session 1b — Integrated per-prediction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Post-hoc paths + pathway + literature triangulated</a:t>
            </a:r>
          </a:p>
        </p:txBody>
      </p:sp>
      <p:pic>
        <p:nvPicPr>
          <p:cNvPr id="5" name="Picture 4" descr="plot_7_integ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45742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72B2"/>
                </a:solidFill>
                <a:latin typeface="Arial"/>
              </a:rPr>
              <a:t>Finding:  </a:t>
            </a:r>
            <a:r>
              <a:rPr sz="1300">
                <a:solidFill>
                  <a:srgbClr val="333333"/>
                </a:solidFill>
                <a:latin typeface="Arial"/>
              </a:rPr>
              <a:t>14% of top predictions have full evidence triangulation. Closes Requirement 5c fully — intrinsic + post-hoc + pathway + literature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All 5 objectives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72B2"/>
                </a:solidFill>
                <a:latin typeface="Arial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37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72B2"/>
                </a:solidFill>
                <a:latin typeface="Arial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3736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72B2"/>
                </a:solidFill>
                <a:latin typeface="Arial"/>
              </a:rPr>
              <a:t>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1. KG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9E73"/>
                </a:solidFill>
                <a:latin typeface="Arial"/>
              </a:rPr>
              <a:t>✓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38,955 nodes, 44,218 edges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3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2. R-GCN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3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9E73"/>
                </a:solidFill>
                <a:latin typeface="Arial"/>
              </a:rPr>
              <a:t>✓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39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12 configurations, multi-seed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7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3. Phenotype propagation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7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55E00"/>
                </a:solidFill>
                <a:latin typeface="Arial"/>
              </a:rPr>
              <a:t>⚠ Reformulated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383279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0 drug-phenotype edges in ClinPGx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4. Interpret rankings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9E73"/>
                </a:solidFill>
                <a:latin typeface="Arial"/>
              </a:rPr>
              <a:t>✓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3192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Intrinsic + post-hoc + integrated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5. Pathway + literature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9E73"/>
                </a:solidFill>
                <a:latin typeface="Arial"/>
              </a:rPr>
              <a:t>✓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48056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Arial"/>
              </a:rPr>
              <a:t>Enhanced with null check + 17.5% 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Combined narrative — 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1.  Method-level choices don't move the needle  (D1, D2, D3, D4.1)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2.  Chemical structure availability dominates  (D4.3, 5.5× effect)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3.  Pathway enrichment is largely structural  (D5-Part 2 + null check)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4.  43 model-only pathways = genuine model contribution  (mechanism-specific)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5.  17.5% literature support with meaningful pairs  (D5-Part 1)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6.  14% fully-triangulated predictions with integrated evidence  (D5 Session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The MSc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5E00"/>
                </a:solidFill>
                <a:latin typeface="Arial"/>
              </a:rPr>
              <a:t>Not:  </a:t>
            </a:r>
            <a:r>
              <a:rPr sz="1600" i="1">
                <a:solidFill>
                  <a:srgbClr val="333333"/>
                </a:solidFill>
                <a:latin typeface="Arial"/>
              </a:rPr>
              <a:t>"We built a state-of-the-art model"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9E73"/>
                </a:solidFill>
                <a:latin typeface="Arial"/>
              </a:rPr>
              <a:t>Yes: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•  Rigorous multi-seed evaluation identifying what does and doesn't drive performance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•  Chemical structure availability identified as the primary constraint (D4)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•  Null enrichment check for scientific defensibility (D5)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•  Integrated multi-evidence interpretability framework (D5 Session 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•  Honest, reproducible reporting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55E00"/>
                </a:solidFill>
                <a:latin typeface="Arial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Single architecture (R-GCN)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64-dim embeddings only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PubMed 1990-2026 date filter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Single-config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54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55E00"/>
                </a:solidFill>
                <a:latin typeface="Arial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945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ClinPGx sparsity (~44k edges)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No drug-phenotype edges (Obj 3)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SMILES coverage 537/751 drugs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554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55E00"/>
                </a:solidFill>
                <a:latin typeface="Arial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945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Aggregate MRR does not fully capture utility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Pathway enrichment doesn't prove causality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•  17.5% inflated by broad chemicals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Arial"/>
              </a:rPr>
              <a:t>Short-term (before submission):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    Complete Part B writing (chapters 3-6)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    Address supervisor feedback from today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Arial"/>
              </a:rPr>
              <a:t>Long-term (beyond MSc):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    Alternative architectures (RGAT, CompGCN, HGT)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    Descriptor-rich features (ChemBERTa, ProtT5)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    Structure-free representations for uncharacterised drugs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    SIDER integration for drug-phenotype ground truth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    Multi-config literature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Your guidance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1.  Approval to begin Part B writing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    Chapters 3 (methodology), 4 (results), 5 (discussion), 6 (conclusion)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2.  Confirmation these findings are defensible as an MSc contribution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    Null-plus-characterisation framing, integrated interpretability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3.  Guidance on Objective 3 reformulation framing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    Data reality: 0 drug-phenotype edges; is the phenotype-relevant proxy acceptable?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4.  Timeline check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    December submission target, 5-6 weeks ahead of Part A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Path to December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2B2"/>
                </a:solidFill>
                <a:latin typeface="Arial"/>
              </a:rPr>
              <a:t>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✓ All experimental deliverables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2B2"/>
                </a:solidFill>
                <a:latin typeface="Arial"/>
              </a:rPr>
              <a:t>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51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Presentation to supervisors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2B2"/>
                </a:solidFill>
                <a:latin typeface="Arial"/>
              </a:rPr>
              <a:t>Aug –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4747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Part B chapter drafts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2B2"/>
                </a:solidFill>
                <a:latin typeface="Arial"/>
              </a:rPr>
              <a:t>November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2976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Supervisor review + revisions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2B2"/>
                </a:solidFill>
                <a:latin typeface="Arial"/>
              </a:rPr>
              <a:t>Early December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1206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"/>
              </a:rPr>
              <a:t>Backup: 12 configuration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D1 supervision regime experiments (9 configs):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regime = default, ambig_as_pos, or nonassoc_excluded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seed = 42, 123, or 2026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β = 0.10 (hub penalty)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D2 hub penalty ablation (3 configs):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regime = default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β = 0.00 (no hub penalty)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seed = 42, 123, or 2026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All hyperparameters: hidden_dim=64, output_dim=64, num_bases=8, dropout=0.2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"/>
              </a:rPr>
              <a:t>Backup: Filtered MRR per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737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Seed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37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Seed 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Seed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Mean ± 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default β=0.10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0.0710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945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0.0895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945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0.1105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0.0903 ± 0.020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ambig_as_pos β=0.10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0.0745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0.0910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0.0910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0.0855 ± 0.011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nonassoc_excl β=0.10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089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0.0710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0.0900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1089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0.0920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0.0844 ± 0.012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default β=0.00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661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0.0620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5661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0.0895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5661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0.0947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0.0821 ± 0.016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"/>
              </a:rPr>
              <a:t>Backup: 43 model-only pathways (sample)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Wnt/β-catenin signaling pathway family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REACTOME:: TCF-dependent Wnt signaling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REACTOME:: Nuclear Receptor transcription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REACTOME:: Interferon signaling (multiple sub-pathways)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REACTOME:: ADAR signaling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REACTOME:: G alpha (s) signalling events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REACTOME:: Class B/2 Secretin receptors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REACTOME:: Antimicrobial peptides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KEGG:: SEB-mediated Th cell response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Interpretation: mechanism-specific pathways that pure degree-based selection misses.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"/>
              </a:rPr>
              <a:t>Backup: Fully-triangulated exemplar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testosterone → ABCB1  (model score -0.43, rank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Structural (graph path, 3 hops):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testosterone → CYP3A4 → paroxetine → ABCB1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Biologically plausible: testosterone is CYP3A4 substrate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Pathway (D5-Part 2, FDR-significant):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27 significant PGx pathways contain ABCB1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Includes: Paroxetine, Etoposide, Tacrolimus/Cyclosporine, Taxane, Verapamil, Statin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Literature (D5-Part 1, PubMed):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10 articles co-mentioning testosterone and ABCB1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Range: 2024-2026 (all within date filter)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  PMIDs: 42280472, 39488872, 38713375,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"/>
              </a:rPr>
              <a:t>Backup: Literature-supported novel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Drug → Gene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Articles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72B2"/>
                </a:solidFill>
                <a:latin typeface="Arial"/>
              </a:rPr>
              <a:t>Biological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carbidopa → COMT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945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Parkinson's (COMT inhibits levodopa)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dimethyl fumarate → FOXP3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517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MS (Tecfidera → T-reg cells)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doxorubicinol → ABCB1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108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108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Chemo resistance (efflux)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doxorubicinol → CBR3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66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5661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Doxorubicin metabolism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canakinumab → IL1B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233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0233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Anti-IL1β mAb (direct target)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etoposide → ABCC1/ABCC2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80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10 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Chemo efflux resistance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fludarabine → NQO1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937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9377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Arial"/>
              </a:rPr>
              <a:t>Leukemia drug detoxification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2471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"/>
              </a:rPr>
              <a:t>Backup: How this fits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Turon et al. (2025) — Descriptor-rich features achieve better biomedical KG completion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Our D4 finding explains why: chemical structure availability is the primary constraint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Bonner et al. (2022) — Multi-lens evaluation in biomedical KG completion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Our D5 Session 1 exemplifies: pathway + literature + interpretability together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Schlichtkrull et al. (2018) — Original R-GCN paper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Our work stress-tests R-GCN in a specialised biomedical setting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  Provides reference for future work with the same rigorous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Arial"/>
              </a:rPr>
              <a:t>Kgabe R. Molepo (MLPKGA007) | MSc Progress | 24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Arial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